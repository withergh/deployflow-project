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SOFTWARE DEPLOYMENT WINDOW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DeployFlow</a:t>
            </a:r>
          </a:p>
          <a:p>
            <a:pPr>
              <a:spcBef>
                <a:spcPts val="800"/>
              </a:spcBef>
              <a:defRPr sz="1400">
                <a:solidFill>
                  <a:srgbClr val="A4AEC0"/>
                </a:solidFill>
              </a:defRPr>
            </a:pPr>
            <a:r>
              <a:t>Graph coloring applied to daily release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5577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A4AEC0"/>
                </a:solidFill>
              </a:defRPr>
            </a:pPr>
            <a:r>
              <a:t>Plan safe launch windows when services share teams, infrastructure, dependencies, and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96012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2944" y="110642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SELECTED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2944" y="136245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2944" y="1920240"/>
            <a:ext cx="5943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55480" y="96012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01784" y="110642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SAFE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1784" y="136245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01784" y="1920240"/>
            <a:ext cx="594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56946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CONFLICT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82549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2944" y="3383280"/>
            <a:ext cx="594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42316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1784" y="256946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RECURSIVE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1784" y="282549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01784" y="3383280"/>
            <a:ext cx="5943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806440"/>
            <a:ext cx="6400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AEC0"/>
                </a:solidFill>
              </a:defRPr>
            </a:pPr>
            <a:r>
              <a:t>Artem Pasichnyk · Yaroslav Kondratenko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From map coloring to release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4747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834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Map coloring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Region = vertex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Shared border = edge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Color = label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Goal: adjacent regions differ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DeployFlow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8346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Deployment = vertex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Unsafe parallel pair = edge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Window = color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Goal: conflicting releases differ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7373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103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Timeline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Runbook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Conflict graph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Search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CLASSICAL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Backtracking graph coloring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420624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81912"/>
            <a:ext cx="4974336" cy="3877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COLOR_VERTEX(i):</a:t>
            </a:r>
            <a:br/>
            <a:r>
              <a:t>  if i == n: return true</a:t>
            </a:r>
            <a:br/>
            <a:br/>
            <a:r>
              <a:t>  for color in 1..k:</a:t>
            </a:r>
            <a:br/>
            <a:r>
              <a:t>    if SAFE(i, color):</a:t>
            </a:r>
            <a:br/>
            <a:r>
              <a:t>      colors[i] = color</a:t>
            </a:r>
            <a:br/>
            <a:r>
              <a:t>      if COLOR_VERTEX(i + 1):</a:t>
            </a:r>
            <a:br/>
            <a:r>
              <a:t>        return true</a:t>
            </a:r>
            <a:br/>
            <a:r>
              <a:t>      colors[i] = 0</a:t>
            </a:r>
            <a:br/>
            <a:br/>
            <a:r>
              <a:t>  return false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84632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How it behaves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331720"/>
            <a:ext cx="4114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Systematically explores color assignments.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Rejects a branch as soon as a neighbor conflict appears.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Complete for the chosen number of windows.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Can be expensive on dense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A useful release board, not a toy demo</a:t>
            </a:r>
          </a:p>
        </p:txBody>
      </p:sp>
      <p:pic>
        <p:nvPicPr>
          <p:cNvPr id="4" name="Picture 3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30936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234440"/>
            <a:ext cx="4023360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55448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What the user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Select today’s service updates.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Add custom deployments.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Choose available windows.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Switch classic vs smart solver.</a:t>
            </a:r>
          </a:p>
          <a:p>
            <a:pPr>
              <a:spcAft>
                <a:spcPts val="800"/>
              </a:spcAft>
              <a:defRPr sz="1600">
                <a:solidFill>
                  <a:srgbClr val="A4AEC0"/>
                </a:solidFill>
              </a:defRPr>
            </a:pPr>
            <a:r>
              <a:t>Generate a release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One Java application, product-grade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Web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resources/web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9659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A4AEC0"/>
                </a:solidFill>
              </a:defRPr>
            </a:pPr>
            <a:r>
              <a:t>dashboard, timeline, graph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926080"/>
            <a:ext cx="411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54480"/>
            <a:ext cx="2468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HTTP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DeployFlowApp.java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19659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A4AEC0"/>
                </a:solidFill>
              </a:defRPr>
            </a:pPr>
            <a:r>
              <a:t>serves UI and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926080"/>
            <a:ext cx="411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468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DeploymentPlanner.java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19659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A4AEC0"/>
                </a:solidFill>
              </a:defRPr>
            </a:pPr>
            <a:r>
              <a:t>builds conflict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926080"/>
            <a:ext cx="411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468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8288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GraphColoringSolver.java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926080"/>
            <a:ext cx="19659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A4AEC0"/>
                </a:solidFill>
              </a:defRPr>
            </a:pPr>
            <a:r>
              <a:t>classic + improved 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A4AEC0"/>
                </a:solidFill>
              </a:defRPr>
            </a:pPr>
            <a:r>
              <a:t>No Maven, Gradle, Node, or external dependencies are required to run the app.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IMPROVED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Smarter search for dense deployment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292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Classical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0233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Fixed vertex order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Try colors 1..k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Only checks colored neighbors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May explore weak branches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0292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DeployFlow 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2062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Most constrained vertex first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Degree + risk tie-breakers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Least-constraining color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Forward checking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Dependency windows must be chronological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DEMO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Generated release timeline</a:t>
            </a:r>
          </a:p>
        </p:txBody>
      </p:sp>
      <p:pic>
        <p:nvPicPr>
          <p:cNvPr id="4" name="Picture 3" descr="02-release-pla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4864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143000"/>
            <a:ext cx="45720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Output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374903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Release windows with parallel lanes.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Conflict graph colored by assigned window.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Operator runbook with step order.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Metrics: calls, checks, backtracks,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57200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4" y="471830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WINDOWS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497433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5/6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87184" y="5532120"/>
            <a:ext cx="594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9720" y="4572000"/>
            <a:ext cx="1965960" cy="11704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6024" y="4718304"/>
            <a:ext cx="16459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A4AEC0"/>
                </a:solidFill>
              </a:defRPr>
            </a:pPr>
            <a: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6024" y="4974336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10.82ms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6024" y="5532120"/>
            <a:ext cx="5943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Correctness checks visible in the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6576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Conflict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Same owner capacity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Shared resource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Direct dependency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High-risk 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356616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645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Example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194560"/>
            <a:ext cx="27432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9 vertices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15 conflict edges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9 precedence rules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23 recursive calls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24 backtracks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25880"/>
            <a:ext cx="310896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6459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94560"/>
            <a:ext cx="2286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Feasible plan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Chronological dependencies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No adjacent same window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Trace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Risks, limits, and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Dense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087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A4AEC0"/>
                </a:solidFill>
              </a:defRPr>
            </a:pPr>
            <a:r>
              <a:t>Backtracking can grow exponentially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50876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2D3EE"/>
                </a:solidFill>
              </a:defRPr>
            </a:pPr>
            <a:r>
              <a:t>MRV, degree ordering, forward checking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69848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Bad 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A4AEC0"/>
                </a:solidFill>
              </a:defRPr>
            </a:pPr>
            <a:r>
              <a:t>Wrong edges create unsafe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2D3EE"/>
                </a:solidFill>
              </a:defRPr>
            </a:pPr>
            <a:r>
              <a:t>Show conflict reasons and editable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1069848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Too few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947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A4AEC0"/>
                </a:solidFill>
              </a:defRPr>
            </a:pPr>
            <a:r>
              <a:t>No feasible coloring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9476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2D3EE"/>
                </a:solidFill>
              </a:defRPr>
            </a:pPr>
            <a:r>
              <a:t>Report failure and suggest extra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69848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Real-world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937760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A4AEC0"/>
                </a:solidFill>
              </a:defRPr>
            </a:pPr>
            <a:r>
              <a:t>People and maintenance windows vary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937760"/>
            <a:ext cx="37490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2D3EE"/>
                </a:solidFill>
              </a:defRPr>
            </a:pPr>
            <a:r>
              <a:t>Add more domain rules as edges/constraints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2D3EE"/>
                </a:solidFill>
              </a:defRPr>
            </a:pPr>
            <a:r>
              <a:t>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Final thoughts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2120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2062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Working Java product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Web dashboard and API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Classical graph coloring function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Improved planner algorithm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Screenshots, report, and demo-ready run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66344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317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Shows map coloring as a real scheduling engine.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Makes deployment conflicts visible.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Gives teams a practical release order.</a:t>
            </a:r>
          </a:p>
          <a:p>
            <a:pPr>
              <a:spcAft>
                <a:spcPts val="800"/>
              </a:spcAft>
              <a:defRPr sz="1700">
                <a:solidFill>
                  <a:srgbClr val="A4AEC0"/>
                </a:solidFill>
              </a:defRPr>
            </a:pPr>
            <a:r>
              <a:t>Leaves room for future production constraints.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9893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DeployFlow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6236208"/>
            <a:ext cx="38404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" cy="9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800" b="1">
                <a:solidFill>
                  <a:srgbClr val="F8FAFC"/>
                </a:solidFill>
              </a:defRPr>
            </a:pPr>
            <a:r>
              <a:t>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6227064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4AEC0"/>
                </a:solidFill>
              </a:defRPr>
            </a:pPr>
            <a:r>
              <a:t>DeployFlow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