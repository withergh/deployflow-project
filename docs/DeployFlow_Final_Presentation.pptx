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SOFTWARE DEPLOYMENT WINDOW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8FAFC"/>
                </a:solidFill>
              </a:rPr>
              <a:t>DeployFlow</a:t>
            </a:r>
          </a:p>
          <a:p>
            <a:pPr>
              <a:spcBef>
                <a:spcPts val="800"/>
              </a:spcBef>
              <a:defRPr sz="1400">
                <a:solidFill>
                  <a:srgbClr val="A4AEC0"/>
                </a:solidFill>
              </a:defRPr>
            </a:pPr>
            <a:r>
              <a:t>Graph coloring applied to daily release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557784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0">
                <a:solidFill>
                  <a:srgbClr val="A4AEC0"/>
                </a:solidFill>
              </a:defRPr>
            </a:pPr>
            <a:r>
              <a:t>Plan safe launch windows when services share teams, infrastructure, dependencies, and risk.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960120"/>
            <a:ext cx="1965960" cy="11704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52944" y="1106424"/>
            <a:ext cx="1645920" cy="21945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800" b="1">
                <a:solidFill>
                  <a:srgbClr val="A4AEC0"/>
                </a:solidFill>
              </a:defRPr>
            </a:pPr>
            <a:r>
              <a:t>SELECTED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52944" y="1362456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552944" y="1920240"/>
            <a:ext cx="59436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55480" y="960120"/>
            <a:ext cx="1965960" cy="11704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01784" y="1106424"/>
            <a:ext cx="1645920" cy="21945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800" b="1">
                <a:solidFill>
                  <a:srgbClr val="A4AEC0"/>
                </a:solidFill>
              </a:defRPr>
            </a:pPr>
            <a:r>
              <a:t>SAFE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01784" y="1362456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01784" y="1920240"/>
            <a:ext cx="5943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423160"/>
            <a:ext cx="1965960" cy="11704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52944" y="2569464"/>
            <a:ext cx="1645920" cy="21945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800" b="1">
                <a:solidFill>
                  <a:srgbClr val="A4AEC0"/>
                </a:solidFill>
              </a:defRPr>
            </a:pPr>
            <a:r>
              <a:t>CONFLICT EDGES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825496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52944" y="3383280"/>
            <a:ext cx="5943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55480" y="2423160"/>
            <a:ext cx="1965960" cy="11704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01784" y="2569464"/>
            <a:ext cx="1645920" cy="21945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800" b="1">
                <a:solidFill>
                  <a:srgbClr val="A4AEC0"/>
                </a:solidFill>
              </a:defRPr>
            </a:pPr>
            <a:r>
              <a:t>RECURSIVE CALLS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1784" y="2825496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01784" y="3383280"/>
            <a:ext cx="5943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806440"/>
            <a:ext cx="6400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0">
                <a:solidFill>
                  <a:srgbClr val="A4AEC0"/>
                </a:solidFill>
              </a:defRPr>
            </a:pPr>
            <a:r>
              <a:t>Artem Pasichnyk · Yaroslav Kondratenko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From map coloring to release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7472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34840" y="1417320"/>
            <a:ext cx="347472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0" y="1417320"/>
            <a:ext cx="28346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Map coloring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43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Region = vertex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Shared border = edge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Color = label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Goal: adjacent regions differ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1737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DeployFlow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286000"/>
            <a:ext cx="28346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Deployment = vertex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Unsafe parallel pair = edge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Window = color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Goal: conflicting releases differ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737360"/>
            <a:ext cx="2286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1031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Timeline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Runbook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Conflict graph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Search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CLASSICAL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Backtracking graph coloring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303520" cy="4206240"/>
          </a:xfrm>
          <a:prstGeom prst="roundRect">
            <a:avLst/>
          </a:prstGeom>
          <a:solidFill>
            <a:srgbClr val="0A0F1D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81912"/>
            <a:ext cx="4974336" cy="3877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  <a:latin typeface="Consolas"/>
              </a:defRPr>
            </a:pPr>
            <a:r>
              <a:t>COLOR_VERTEX(i):</a:t>
            </a:r>
            <a:br/>
            <a:r>
              <a:t>  if i == n: return true</a:t>
            </a:r>
            <a:br/>
            <a:br/>
            <a:r>
              <a:t>  for color in 1..k:</a:t>
            </a:r>
            <a:br/>
            <a:r>
              <a:t>    if SAFE(i, color):</a:t>
            </a:r>
            <a:br/>
            <a:r>
              <a:t>      colors[i] = color</a:t>
            </a:r>
            <a:br/>
            <a:r>
              <a:t>      if COLOR_VERTEX(i + 1):</a:t>
            </a:r>
            <a:br/>
            <a:r>
              <a:t>        return true</a:t>
            </a:r>
            <a:br/>
            <a:r>
              <a:t>      colors[i] = 0</a:t>
            </a:r>
            <a:br/>
            <a:br/>
            <a:r>
              <a:t>  return false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17320"/>
            <a:ext cx="4846320" cy="4206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373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How it behaves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331720"/>
            <a:ext cx="4114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Systematically explores color assignments.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Rejects a branch as soon as a neighbor conflict appears.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Complete for the chosen number of windows.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Can be expensive on dense graphs.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A useful release board, not a toy demo</a:t>
            </a:r>
          </a:p>
        </p:txBody>
      </p:sp>
      <p:pic>
        <p:nvPicPr>
          <p:cNvPr id="4" name="Picture 3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309360" cy="5257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234440"/>
            <a:ext cx="4023360" cy="4663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54480"/>
            <a:ext cx="31089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What the user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103120"/>
            <a:ext cx="329184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Select today’s service updates.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Add custom deployments.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Choose available windows.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Switch classic vs smart solver.</a:t>
            </a:r>
          </a:p>
          <a:p>
            <a:pPr>
              <a:spcAft>
                <a:spcPts val="800"/>
              </a:spcAft>
              <a:defRPr sz="1600">
                <a:solidFill>
                  <a:srgbClr val="A4AEC0"/>
                </a:solidFill>
              </a:defRPr>
            </a:pPr>
            <a:r>
              <a:t>Generate a release timeline.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One Java application, product-grade layers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468880" cy="3566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Web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resources/web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9659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500" b="0">
                <a:solidFill>
                  <a:srgbClr val="A4AEC0"/>
                </a:solidFill>
              </a:defRPr>
            </a:pPr>
            <a:r>
              <a:t>dashboard, timeline, graph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926080"/>
            <a:ext cx="411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000" b="1">
                <a:solidFill>
                  <a:srgbClr val="22D3EE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554480"/>
            <a:ext cx="2468880" cy="3566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0" y="182880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HTTP driver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33172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DeployFlowApp.java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26080"/>
            <a:ext cx="19659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500" b="0">
                <a:solidFill>
                  <a:srgbClr val="A4AEC0"/>
                </a:solidFill>
              </a:defRPr>
            </a:pPr>
            <a:r>
              <a:t>serves UI and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926080"/>
            <a:ext cx="411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000" b="1">
                <a:solidFill>
                  <a:srgbClr val="22D3EE"/>
                </a:solidFill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554480"/>
            <a:ext cx="2468880" cy="3566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2880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3172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DeploymentPlanner.java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26080"/>
            <a:ext cx="19659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500" b="0">
                <a:solidFill>
                  <a:srgbClr val="A4AEC0"/>
                </a:solidFill>
              </a:defRPr>
            </a:pPr>
            <a:r>
              <a:t>builds conflict 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926080"/>
            <a:ext cx="4114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3000" b="1">
                <a:solidFill>
                  <a:srgbClr val="22D3EE"/>
                </a:solidFill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468880" cy="3566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82880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Algorithm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33172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 b="1">
                <a:solidFill>
                  <a:srgbClr val="22D3EE"/>
                </a:solidFill>
              </a:defRPr>
            </a:pPr>
            <a:r>
              <a:t>GraphColoringSolver.java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926080"/>
            <a:ext cx="19659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500" b="0">
                <a:solidFill>
                  <a:srgbClr val="A4AEC0"/>
                </a:solidFill>
              </a:defRPr>
            </a:pPr>
            <a:r>
              <a:t>classic + improved 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500" b="0">
                <a:solidFill>
                  <a:srgbClr val="A4AEC0"/>
                </a:solidFill>
              </a:defRPr>
            </a:pPr>
            <a:r>
              <a:t>No Maven, Gradle, Node, or external dependencies are required to run the app.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IMPROVED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Smarter search for dense deployment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02920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20116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Classical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02336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Fixed vertex order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Try colors 1..k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Only checks colored neighbors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May explore weak branches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25880"/>
            <a:ext cx="502920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31089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DeployFlow Smart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2062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Most constrained vertex first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Degree + risk tie-breakers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Least-constraining color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Forward checking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Dependency windows must be chronological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DEMO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Generated release timeline</a:t>
            </a:r>
          </a:p>
        </p:txBody>
      </p:sp>
      <p:pic>
        <p:nvPicPr>
          <p:cNvPr id="4" name="Picture 3" descr="02-release-plan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548640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20840" y="1143000"/>
            <a:ext cx="4572000" cy="4846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46304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Output 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3749039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Release windows with parallel lanes.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Conflict graph colored by assigned window.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Operator runbook with step order.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Metrics: calls, checks, backtracks, runtime.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4572000"/>
            <a:ext cx="1965960" cy="11704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87184" y="4718304"/>
            <a:ext cx="1645920" cy="21945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800" b="1">
                <a:solidFill>
                  <a:srgbClr val="A4AEC0"/>
                </a:solidFill>
              </a:defRPr>
            </a:pPr>
            <a:r>
              <a:t>WINDOWS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7184" y="4974336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5/6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87184" y="5532120"/>
            <a:ext cx="5943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89720" y="4572000"/>
            <a:ext cx="1965960" cy="117043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36024" y="4718304"/>
            <a:ext cx="1645920" cy="21945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800" b="1">
                <a:solidFill>
                  <a:srgbClr val="A4AEC0"/>
                </a:solidFill>
              </a:defRPr>
            </a:pPr>
            <a:r>
              <a:t>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6024" y="4974336"/>
            <a:ext cx="16459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10.82ms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36024" y="5532120"/>
            <a:ext cx="59436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Correctness checks visible in the product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65760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Conflict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29260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Same owner capacity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Shared resource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Direct dependency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High-risk pair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325880"/>
            <a:ext cx="356616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64592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Example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94560"/>
            <a:ext cx="27432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9 vertices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15 conflict edges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9 precedence rules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23 recursive calls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24 backtracks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325880"/>
            <a:ext cx="310896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1645920"/>
            <a:ext cx="2286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2194560"/>
            <a:ext cx="22860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Feasible plan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Chronological dependencies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No adjacent same window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Trace available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Risks, limits, and mitigations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698480" cy="1005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0876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800" b="1">
                <a:solidFill>
                  <a:srgbClr val="F8FAFC"/>
                </a:solidFill>
              </a:defRPr>
            </a:pPr>
            <a:r>
              <a:t>Dense 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508760"/>
            <a:ext cx="32918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A4AEC0"/>
                </a:solidFill>
              </a:defRPr>
            </a:pPr>
            <a:r>
              <a:t>Backtracking can grow exponentially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1508760"/>
            <a:ext cx="3749039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22D3EE"/>
                </a:solidFill>
              </a:defRPr>
            </a:pPr>
            <a:r>
              <a:t>MRV, degree ordering, forward checking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698480" cy="1005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800" b="1">
                <a:solidFill>
                  <a:srgbClr val="F8FAFC"/>
                </a:solidFill>
              </a:defRPr>
            </a:pPr>
            <a:r>
              <a:t>Bad input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51760"/>
            <a:ext cx="32918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A4AEC0"/>
                </a:solidFill>
              </a:defRPr>
            </a:pPr>
            <a:r>
              <a:t>Wrong edges create unsafe plans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651760"/>
            <a:ext cx="3749039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22D3EE"/>
                </a:solidFill>
              </a:defRPr>
            </a:pPr>
            <a:r>
              <a:t>Show conflict reasons and editable catalog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11880"/>
            <a:ext cx="10698480" cy="1005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800" b="1">
                <a:solidFill>
                  <a:srgbClr val="F8FAFC"/>
                </a:solidFill>
              </a:defRPr>
            </a:pPr>
            <a:r>
              <a:t>Too few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94760"/>
            <a:ext cx="32918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A4AEC0"/>
                </a:solidFill>
              </a:defRPr>
            </a:pPr>
            <a:r>
              <a:t>No feasible coloring exists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94760"/>
            <a:ext cx="3749039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22D3EE"/>
                </a:solidFill>
              </a:defRPr>
            </a:pPr>
            <a:r>
              <a:t>Report failure and suggest extra windows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10698480" cy="1005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37760"/>
            <a:ext cx="2011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800" b="1">
                <a:solidFill>
                  <a:srgbClr val="F8FAFC"/>
                </a:solidFill>
              </a:defRPr>
            </a:pPr>
            <a:r>
              <a:t>Real-world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937760"/>
            <a:ext cx="32918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A4AEC0"/>
                </a:solidFill>
              </a:defRPr>
            </a:pPr>
            <a:r>
              <a:t>People and maintenance windows vary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937760"/>
            <a:ext cx="3749039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 b="0">
                <a:solidFill>
                  <a:srgbClr val="22D3EE"/>
                </a:solidFill>
              </a:defRPr>
            </a:pPr>
            <a:r>
              <a:t>Add more domain rules as edges/constraints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3840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22D3EE"/>
                </a:solidFill>
              </a:defRPr>
            </a:pPr>
            <a:r>
              <a:t>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8FAFC"/>
                </a:solidFill>
              </a:rPr>
              <a:t>Final thoughts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52120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737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331720"/>
            <a:ext cx="420624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Working Java product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Web dashboard and API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Classical graph coloring function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Improved planner algorithm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Screenshots, report, and demo-ready run scripts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17320"/>
            <a:ext cx="466344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37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331720"/>
            <a:ext cx="3657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Shows map coloring as a real scheduling engine.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Makes deployment conflicts visible.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Gives teams a practical release order.</a:t>
            </a:r>
          </a:p>
          <a:p>
            <a:pPr>
              <a:spcAft>
                <a:spcPts val="800"/>
              </a:spcAft>
              <a:defRPr sz="1700">
                <a:solidFill>
                  <a:srgbClr val="A4AEC0"/>
                </a:solidFill>
              </a:defRPr>
            </a:pPr>
            <a:r>
              <a:t>Leaves room for future production constraints.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98932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600" b="1">
                <a:solidFill>
                  <a:srgbClr val="22D3EE"/>
                </a:solidFill>
              </a:defRPr>
            </a:pPr>
            <a:r>
              <a:t>DeployFlow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6236208"/>
            <a:ext cx="384048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291072"/>
            <a:ext cx="274320" cy="9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800" b="1">
                <a:solidFill>
                  <a:srgbClr val="F8FAFC"/>
                </a:solidFill>
              </a:defRPr>
            </a:pPr>
            <a:r>
              <a:t>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6227064"/>
            <a:ext cx="18288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900" b="1">
                <a:solidFill>
                  <a:srgbClr val="A4AEC0"/>
                </a:solidFill>
              </a:defRPr>
            </a:pPr>
            <a:r>
              <a:t>DeployFlow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